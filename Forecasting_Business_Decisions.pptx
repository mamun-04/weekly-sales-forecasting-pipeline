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Forecasting Weekly Sales to Drive Business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Forecast?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E67E22"/>
                </a:solidFill>
              </a:defRPr>
            </a:pPr>
            <a:r>
              <a:t>Forecasting reduces uncertainty so operations can act early instead of reacting 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Inventory Management: Avoid stockouts before peak weeks and reduce holding costs in slow periods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Staffing &amp; Operations: Align warehouse and customer-service capacity with predicted demand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Capital Planning: Budget purchasing spend ahead of seasonal spikes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Risk Quantification: Move from single-number guesses to probabilistic ranges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Simple Tools: Trendlines &amp; Moving Averages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972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Linear Trendline: Captures long-term direction (£1,600/week growth) but assumes constant growth forever</a:t>
            </a:r>
          </a:p>
        </p:txBody>
      </p:sp>
      <p:pic>
        <p:nvPicPr>
          <p:cNvPr id="6" name="Picture 5" descr="image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2725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4-Week Moving Average: Smooths noise and tracks recent momentum, but flat-lines after the last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Limitation of Simple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E67E22"/>
                </a:solidFill>
              </a:defRPr>
            </a:pPr>
            <a:r>
              <a:t>Simple methods give direction, but fail when the business behaves like a real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No Seasonality: Both methods treat Christmas week the same as March — missing the core business cycle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No Confidence Interval: We get one number, not a range of plausible outcomes for risk planning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No Trend Adaptation: If growth suddenly accelerates, a fixed slope lags behind reality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Rigid Extrapolation: Moving averages flat-line; trendlines run off forever without bound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Test Window Bias: Trendline and MA posted lower error on a linear 12-week slice, but completely miss structural volatility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Prophet Is Better for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E67E22"/>
                </a:solidFill>
              </a:defRPr>
            </a:pPr>
            <a:r>
              <a:t>Prophet is built for business time-series: it decomposes signal into trend, seasonality, and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Seasonal Awareness: Automatically detects yearly cycles (e.g., holiday peaks in Nov/Dec)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Automatic Trend Shifts: Identifies changepoints where growth speeds up or slows down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Built-in Uncertainty: Produces prediction intervals via Monte Carlo simulation, not just point estimates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Event Modeling: Lets us inject known business events (promotions, holidays, warehouse closures)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Granularity: Works just as well on one SKU as on total sales — scales from CFO to warehouse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8098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How Prophet Works: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E67E22"/>
                </a:solidFill>
              </a:defRPr>
            </a:pPr>
            <a:r>
              <a:t>A. Trend Component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Piecewise linear model with automatic changepoint detection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25 potential changepoints placed uniformly; L1 regularization keeps only the most significant breaks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Business meaning: If growth shifted after a market expansion, Prophet notices and splits the trend</a:t>
            </a:r>
          </a:p>
          <a:p>
            <a:pPr>
              <a:spcAft>
                <a:spcPts val="600"/>
              </a:spcAft>
              <a:defRPr sz="2000" b="1">
                <a:solidFill>
                  <a:srgbClr val="E67E22"/>
                </a:solidFill>
              </a:defRPr>
            </a:pPr>
            <a:r>
              <a:t>B. Seasonality Component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Fourier series model — smooth seasonal waves, not rigid monthly dummies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Yearly: Captures Nov/Dec peak and summer lull automatically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Weekly: Models intra-week patterns (disabled here since data is already weekly)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Custom: Add your own cycles (e.g., 4-week promotional rhythms)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E67E22"/>
                </a:solidFill>
              </a:defRPr>
            </a:pPr>
            <a:r>
              <a:t>C. Holidays &amp; Special Events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Feed in a custom table of dates (Black Friday, Christmas, closures)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Each holiday gets its own effect estimate — some boost, some depress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Additive vs. Multiplicative: Seasonality scales with trend or stays fixed</a:t>
            </a:r>
          </a:p>
          <a:p>
            <a:pPr>
              <a:spcAft>
                <a:spcPts val="600"/>
              </a:spcAft>
              <a:defRPr sz="2000" b="1">
                <a:solidFill>
                  <a:srgbClr val="E67E22"/>
                </a:solidFill>
              </a:defRPr>
            </a:pPr>
            <a:r>
              <a:t>D. Uncertainty Intervals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Monte Carlo simulation generates many possible futures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The shaded band is a statistical confidence interval, not a guess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Plan for the 95th percentile (worst-case stock) or 5th (cash-flow minimum)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Reading the Prophet Graph</a:t>
            </a:r>
          </a:p>
        </p:txBody>
      </p:sp>
      <p:pic>
        <p:nvPicPr>
          <p:cNvPr id="4" name="Picture 3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09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137160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67E22"/>
                </a:solidFill>
              </a:defRPr>
            </a:pPr>
            <a:r>
              <a:t>Graph Anatomy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Black dots = Actual weekly sales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Blue line = Point forecast (trend + seasonality + holidays)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Light-blue band = 95% prediction interval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What to notice: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Nov–Dec spikes: Model lifts because yearly seasonality detected the holiday pattern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Post-Dec drop: Forecast correctly dips after seasonal peak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 trendline would cut straight through the middle, missing both peak and trough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From Aggregate to Individual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E67E22"/>
                </a:solidFill>
              </a:defRPr>
            </a:pPr>
            <a:r>
              <a:t>The weekly total keeps the CFO happy; SKU-level forecasts keep the warehouse manager productive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Aggregate Forecast: Tells us how big the business will be overall (CFO view)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Product-Level Prophet: Tells us what to buy, when, and how much (Operations view)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Business decisions enabled by SKU-level forecasting: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• Purchasing: Order more units of products with rising Prophet trends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• Marketing: Promote products where forecast underperforms current inventory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• Cash Flow: Tie individual product forecasts to supplier payment schedules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• Discontinuation: Flag top products with flat/negative trend components for review</a:t>
            </a:r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600"/>
              </a:spcAft>
              <a:defRPr sz="2200">
                <a:solidFill>
                  <a:srgbClr val="2C3E50"/>
                </a:solidFill>
              </a:defRPr>
            </a:pPr>
            <a:r>
              <a:t>Example: Run the same Prophet pipeline on each of the Top 15 SKUs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>
                <a:solidFill>
                  <a:srgbClr val="2C3E50"/>
                </a:solidFill>
              </a:defRPr>
            </a:pPr>
            <a:r>
              <a:t>• Simple methods give direction; Prophet gives structure</a:t>
            </a:r>
          </a:p>
          <a:p>
            <a:pPr>
              <a:spcAft>
                <a:spcPts val="2000"/>
              </a:spcAft>
              <a:defRPr sz="2600">
                <a:solidFill>
                  <a:srgbClr val="2C3E50"/>
                </a:solidFill>
              </a:defRPr>
            </a:pPr>
            <a:r>
              <a:t>• Seasonality, changepoints, and holidays mirror how the business actually behaves</a:t>
            </a:r>
          </a:p>
          <a:p>
            <a:pPr>
              <a:spcAft>
                <a:spcPts val="2000"/>
              </a:spcAft>
              <a:defRPr sz="2600">
                <a:solidFill>
                  <a:srgbClr val="2C3E50"/>
                </a:solidFill>
              </a:defRPr>
            </a:pPr>
            <a:r>
              <a:t>• Uncertainty intervals turn forecasts into risk-adjusted decisions</a:t>
            </a:r>
          </a:p>
          <a:p>
            <a:pPr>
              <a:spcAft>
                <a:spcPts val="2000"/>
              </a:spcAft>
              <a:defRPr sz="2600">
                <a:solidFill>
                  <a:srgbClr val="2C3E50"/>
                </a:solidFill>
              </a:defRPr>
            </a:pPr>
            <a:r>
              <a:t>• Scaling from total sales to individual products closes the loop between analytics and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768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Mamun Arifuzzaman</cp:lastModifiedBy>
  <cp:revision>2</cp:revision>
  <dcterms:created xsi:type="dcterms:W3CDTF">2013-01-27T09:14:16Z</dcterms:created>
  <dcterms:modified xsi:type="dcterms:W3CDTF">2026-08-09T16:31:04Z</dcterms:modified>
  <cp:category/>
</cp:coreProperties>
</file>